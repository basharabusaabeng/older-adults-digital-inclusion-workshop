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Warmly greet participants as they arrive, ideally over coffee. Introduce yourself and the spirit of the activity: this is optional, recreational, and led by curiosity, not a class. Make explicit and repeat: there are no exams, no grades, and no expectation to finish anything. People may watch, chat, or join in as much or as little as they like, and they can leave at any moment. The goal of this first moment is comfort, not content — spend as long as needed on informal conversation before moving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conceptual and warm, not technical. The point is to frame the whole workshop: technology is a bridge to people, not a subject to master. Invite a short conversation around the prompt — names of grandchildren, old friends, neighbours — before moving on. If the group prefers to just chat here, that is a perfectly good use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gentle, visual orientation rather than a lecture — point to the equivalent part on your own device and invite participants to find it on theirs. Go at the pace of the slowest participant. Skip entirely for anyone who is already confident with their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each gesture slowly and largely, exaggerating the movement so it is easy to see. Reassure participants that the screen is not fragile and that nothing bad happens from touching it "wrong." Let people try on their own device only if they feel comfortable; some may prefer to simply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steps one at a time on your own device first, then invite participants to try on theirs. Keep it playful — there is no wrong photo. This is a good moment to let people photograph something nearby (a flower, a cup, each other) purely for the joy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turn a technical skill into a human moment. If someone has an old favourite photo on their phone, invite them to show it and share the story behind it. Let the conversation run — this is exactly the kind of moment the whole workshop is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simple visual journey: take the photo, open it, tap share, choose a person. Keep the demonstration on your own device first. Only guide participants through sending on their own phone if they want to and if there is someone real they would enjoy sending something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messaging in plain language ("a bit like a short letter that arrives instantly"), avoiding technical terms like "app" or "notification" unless participants use them first. Keep the example message light and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reflective rather than technical. Use it to connect the messaging skill just practiced to real family life — asking how people currently stay in touch, and what feels easiest or hardest about it. No new demonstration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first demonstration purely visual — show what a video call looks like without necessarily placing a real call, unless the group is enthusiastic and a willing contact is available. Emphasise that this is optional and can always be arranged with support another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the search entirely on the participant’s own interest, not a preset topic. Type slowly and read results aloud together. This slide is about curiosity and enjoyment, not search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 especially well as a nostalgic exercise — a childhood town, a former home, a place from a family story. Let participants guide where you look rather than choosing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a short clip of a requested song if possible — this often becomes one of the warmest moments of a session. Keep the technical explanation minimal; the song and the memory are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gentle summarising pause partway through the session, drawing together the photo, message, and video-call moments already covered. No new device skill is introduced here — it is purely reflective.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back and let the participant lead for a moment, offering help only if asked. The goal is quiet confidence, not a demonstration. Celebrate any small success warmly and without exaggeration.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warmly and without irony — it is one of the most important messages of the whole workshop. If a mistake has just happened naturally in the session, refer back to it here as a lived example rather than a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social, unhurried moment — coffee or tea alongside it works well. Let the conversation range beyond the workshop itself if that is where the group wants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states the workshop’s central philosophy plainly. Take it slowly and let it land — it can be a good moment for quiet agreement or a brief closing thought from participants, rather than another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clearly as a future possibility, not a confirmed activity. It depends on the success of earlier sessions and requires supervisor approval. If participants respond warmly, note their interest to share with supervisors afterwards, but do not promise it will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and unhurriedly. Thank each participant individually if the group is small. Remind everyone that today was simply a starting point and that future sessions will follow their pace and interests, not a fixed plan. If appropriate, briefly note when the next informal gathering might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22"/>
        </a:solidFill>
      </p:bgPr>
    </p:bg>
    <p:spTree>
      <p:nvGrpSpPr>
        <p:cNvPr id="1" name=""/>
        <p:cNvGrpSpPr/>
        <p:nvPr/>
      </p:nvGrpSpPr>
      <p:grpSpPr>
        <a:xfrm>
          <a:off x="0" y="0"/>
          <a:ext cx="0" cy="0"/>
          <a:chOff x="0" y="0"/>
          <a:chExt cx="0" cy="0"/>
        </a:xfrm>
      </p:grpSpPr>
      <p:sp>
        <p:nvSpPr>
          <p:cNvPr id="2" name="Shape 0"/>
          <p:cNvSpPr/>
          <p:nvPr/>
        </p:nvSpPr>
        <p:spPr>
          <a:xfrm>
            <a:off x="5042916" y="777240"/>
            <a:ext cx="2103120" cy="2103120"/>
          </a:xfrm>
          <a:prstGeom prst="ellipse">
            <a:avLst/>
          </a:prstGeom>
          <a:solidFill>
            <a:srgbClr val="FFFFFF">
              <a:alpha val="88000"/>
            </a:srgbClr>
          </a:solidFill>
          <a:ln/>
        </p:spPr>
      </p:sp>
      <p:pic>
        <p:nvPicPr>
          <p:cNvPr id="3" name="Image 0" descr="/home/claude/workshop/icons/smile.png">    </p:cNvPr>
          <p:cNvPicPr>
            <a:picLocks noChangeAspect="1"/>
          </p:cNvPicPr>
          <p:nvPr/>
        </p:nvPicPr>
        <p:blipFill>
          <a:blip r:embed="rId1"/>
          <a:stretch>
            <a:fillRect/>
          </a:stretch>
        </p:blipFill>
        <p:spPr>
          <a:xfrm>
            <a:off x="5545836" y="1280160"/>
            <a:ext cx="1097280" cy="1097280"/>
          </a:xfrm>
          <a:prstGeom prst="rect">
            <a:avLst/>
          </a:prstGeom>
        </p:spPr>
      </p:pic>
      <p:sp>
        <p:nvSpPr>
          <p:cNvPr id="4" name="Text 1"/>
          <p:cNvSpPr/>
          <p:nvPr/>
        </p:nvSpPr>
        <p:spPr>
          <a:xfrm>
            <a:off x="914400" y="3063240"/>
            <a:ext cx="10360152"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Welcome</a:t>
            </a:r>
            <a:endParaRPr lang="en-US" sz="4000" dirty="0"/>
          </a:p>
        </p:txBody>
      </p:sp>
      <p:sp>
        <p:nvSpPr>
          <p:cNvPr id="5" name="Text 2"/>
          <p:cNvSpPr/>
          <p:nvPr/>
        </p:nvSpPr>
        <p:spPr>
          <a:xfrm>
            <a:off x="1463040" y="4114800"/>
            <a:ext cx="9262872" cy="1188720"/>
          </a:xfrm>
          <a:prstGeom prst="rect">
            <a:avLst/>
          </a:prstGeom>
          <a:noFill/>
          <a:ln/>
        </p:spPr>
        <p:txBody>
          <a:bodyPr wrap="square" lIns="0" tIns="0" rIns="0" bIns="0" rtlCol="0" anchor="ctr"/>
          <a:lstStyle/>
          <a:p>
            <a:pPr algn="ctr" indent="0" marL="0">
              <a:lnSpc>
                <a:spcPct val="125000"/>
              </a:lnSpc>
              <a:buNone/>
            </a:pPr>
            <a:r>
              <a:rPr lang="en-US" sz="2300" dirty="0">
                <a:solidFill>
                  <a:srgbClr val="EFE7DA"/>
                </a:solidFill>
                <a:latin typeface="Calibri" pitchFamily="34" charset="0"/>
                <a:ea typeface="Calibri" pitchFamily="34" charset="-122"/>
                <a:cs typeface="Calibri" pitchFamily="34" charset="-120"/>
              </a:rPr>
              <a:t>Today we explore phones and tablets together, at your own pace.</a:t>
            </a:r>
            <a:endParaRPr lang="en-US" sz="2300" dirty="0"/>
          </a:p>
        </p:txBody>
      </p:sp>
      <p:sp>
        <p:nvSpPr>
          <p:cNvPr id="6" name="Text 3"/>
          <p:cNvSpPr/>
          <p:nvPr/>
        </p:nvSpPr>
        <p:spPr>
          <a:xfrm>
            <a:off x="1463040" y="5349240"/>
            <a:ext cx="9262872"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libri" pitchFamily="34" charset="0"/>
                <a:ea typeface="Calibri" pitchFamily="34" charset="-122"/>
                <a:cs typeface="Calibri" pitchFamily="34" charset="-120"/>
              </a:rPr>
              <a:t>There is no test. Come and go as you like — this is simply for you.</a:t>
            </a:r>
            <a:endParaRPr lang="en-US" sz="1700" dirty="0"/>
          </a:p>
        </p:txBody>
      </p:sp>
      <p:sp>
        <p:nvSpPr>
          <p:cNvPr id="7" name="Text 4"/>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 / 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users.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WHY WE ARE HERE</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Technology Can Bring Us Closer</a:t>
            </a:r>
            <a:endParaRPr lang="en-US" sz="3200" dirty="0"/>
          </a:p>
        </p:txBody>
      </p:sp>
      <p:sp>
        <p:nvSpPr>
          <p:cNvPr id="6" name="Text 3"/>
          <p:cNvSpPr/>
          <p:nvPr/>
        </p:nvSpPr>
        <p:spPr>
          <a:xfrm>
            <a:off x="379476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A phone or tablet can help us stay close to family, friends, and our community.</a:t>
            </a:r>
            <a:endParaRPr lang="en-US" sz="2200" dirty="0"/>
          </a:p>
        </p:txBody>
      </p:sp>
      <p:sp>
        <p:nvSpPr>
          <p:cNvPr id="7" name="Shape 4"/>
          <p:cNvSpPr/>
          <p:nvPr/>
        </p:nvSpPr>
        <p:spPr>
          <a:xfrm>
            <a:off x="3794760" y="3977640"/>
            <a:ext cx="7662672" cy="1417320"/>
          </a:xfrm>
          <a:prstGeom prst="roundRect">
            <a:avLst>
              <a:gd name="adj" fmla="val 9032"/>
            </a:avLst>
          </a:prstGeom>
          <a:solidFill>
            <a:srgbClr val="EFE7DA"/>
          </a:solidFill>
          <a:ln/>
        </p:spPr>
      </p:sp>
      <p:sp>
        <p:nvSpPr>
          <p:cNvPr id="8" name="Text 5"/>
          <p:cNvSpPr/>
          <p:nvPr/>
        </p:nvSpPr>
        <p:spPr>
          <a:xfrm>
            <a:off x="411480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411480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Who would you like to feel a little closer to today?</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2 / 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smartphone.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GETTING STARTED</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Getting to Know the Smartphone</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Every phone has a few simple parts: a screen, a button, a camera, a speaker.</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Can you point to the camera on your own phone?</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3 / 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hand.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THE BASICS</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Touch, Swipe &amp; Tap</a:t>
            </a:r>
            <a:endParaRPr lang="en-US" sz="3200" dirty="0"/>
          </a:p>
        </p:txBody>
      </p:sp>
      <p:sp>
        <p:nvSpPr>
          <p:cNvPr id="6" name="Text 3"/>
          <p:cNvSpPr/>
          <p:nvPr/>
        </p:nvSpPr>
        <p:spPr>
          <a:xfrm>
            <a:off x="379476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A gentle tap, a slow swipe, a light hold — these are all a screen needs.</a:t>
            </a:r>
            <a:endParaRPr lang="en-US" sz="2200" dirty="0"/>
          </a:p>
        </p:txBody>
      </p:sp>
      <p:sp>
        <p:nvSpPr>
          <p:cNvPr id="7" name="Shape 4"/>
          <p:cNvSpPr/>
          <p:nvPr/>
        </p:nvSpPr>
        <p:spPr>
          <a:xfrm>
            <a:off x="3794760" y="3977640"/>
            <a:ext cx="7662672" cy="1417320"/>
          </a:xfrm>
          <a:prstGeom prst="roundRect">
            <a:avLst>
              <a:gd name="adj" fmla="val 9032"/>
            </a:avLst>
          </a:prstGeom>
          <a:solidFill>
            <a:srgbClr val="EFE7DA"/>
          </a:solidFill>
          <a:ln/>
        </p:spPr>
      </p:sp>
      <p:sp>
        <p:nvSpPr>
          <p:cNvPr id="8" name="Text 5"/>
          <p:cNvSpPr/>
          <p:nvPr/>
        </p:nvSpPr>
        <p:spPr>
          <a:xfrm>
            <a:off x="411480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411480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Try a soft tap on your screen and see what happens.</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4 / 20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camera.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PHOTOGRAPHY</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Let's Take a Photo</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Open the camera, choose what you see, and gently tap the button.</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What would you like to take a photo of right now?</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5 / 20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image.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PHOTOGRAPHY</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Your Photos Tell Stories</a:t>
            </a:r>
            <a:endParaRPr lang="en-US" sz="3200" dirty="0"/>
          </a:p>
        </p:txBody>
      </p:sp>
      <p:sp>
        <p:nvSpPr>
          <p:cNvPr id="6" name="Text 3"/>
          <p:cNvSpPr/>
          <p:nvPr/>
        </p:nvSpPr>
        <p:spPr>
          <a:xfrm>
            <a:off x="379476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Behind every photo is a memory, a person, or a place worth talking about.</a:t>
            </a:r>
            <a:endParaRPr lang="en-US" sz="2200" dirty="0"/>
          </a:p>
        </p:txBody>
      </p:sp>
      <p:sp>
        <p:nvSpPr>
          <p:cNvPr id="7" name="Shape 4"/>
          <p:cNvSpPr/>
          <p:nvPr/>
        </p:nvSpPr>
        <p:spPr>
          <a:xfrm>
            <a:off x="3794760" y="3977640"/>
            <a:ext cx="7662672" cy="1417320"/>
          </a:xfrm>
          <a:prstGeom prst="roundRect">
            <a:avLst>
              <a:gd name="adj" fmla="val 9032"/>
            </a:avLst>
          </a:prstGeom>
          <a:solidFill>
            <a:srgbClr val="EFE7DA"/>
          </a:solidFill>
          <a:ln/>
        </p:spPr>
      </p:sp>
      <p:sp>
        <p:nvSpPr>
          <p:cNvPr id="8" name="Text 5"/>
          <p:cNvSpPr/>
          <p:nvPr/>
        </p:nvSpPr>
        <p:spPr>
          <a:xfrm>
            <a:off x="411480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411480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Tell us about a photo you love.</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6 / 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send.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SHARING</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Send a Photo</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A photo can travel from your phone to someone you love in just a moment.</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Who would you like to send a photo to?</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7 / 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message.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STAYING IN TOUCH</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Let's Send a Message</a:t>
            </a:r>
            <a:endParaRPr lang="en-US" sz="3200" dirty="0"/>
          </a:p>
        </p:txBody>
      </p:sp>
      <p:sp>
        <p:nvSpPr>
          <p:cNvPr id="6" name="Text 3"/>
          <p:cNvSpPr/>
          <p:nvPr/>
        </p:nvSpPr>
        <p:spPr>
          <a:xfrm>
            <a:off x="379476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A short message can bring a smile to someone else’s day.</a:t>
            </a:r>
            <a:endParaRPr lang="en-US" sz="2200" dirty="0"/>
          </a:p>
        </p:txBody>
      </p:sp>
      <p:sp>
        <p:nvSpPr>
          <p:cNvPr id="7" name="Shape 4"/>
          <p:cNvSpPr/>
          <p:nvPr/>
        </p:nvSpPr>
        <p:spPr>
          <a:xfrm>
            <a:off x="3794760" y="3977640"/>
            <a:ext cx="7662672" cy="1417320"/>
          </a:xfrm>
          <a:prstGeom prst="roundRect">
            <a:avLst>
              <a:gd name="adj" fmla="val 9032"/>
            </a:avLst>
          </a:prstGeom>
          <a:solidFill>
            <a:srgbClr val="EFE7DA"/>
          </a:solidFill>
          <a:ln/>
        </p:spPr>
      </p:sp>
      <p:sp>
        <p:nvSpPr>
          <p:cNvPr id="8" name="Text 5"/>
          <p:cNvSpPr/>
          <p:nvPr/>
        </p:nvSpPr>
        <p:spPr>
          <a:xfrm>
            <a:off x="411480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411480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What message would you like to send today?</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8 / 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messageSquare.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STAYING IN TOUCH</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Talking to Family</a:t>
            </a:r>
            <a:endParaRPr lang="en-US" sz="3200" dirty="0"/>
          </a:p>
        </p:txBody>
      </p:sp>
      <p:sp>
        <p:nvSpPr>
          <p:cNvPr id="6" name="Text 3"/>
          <p:cNvSpPr/>
          <p:nvPr/>
        </p:nvSpPr>
        <p:spPr>
          <a:xfrm>
            <a:off x="731520" y="2057400"/>
            <a:ext cx="7662672" cy="237744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Small, everyday messages help us stay part of family life, near or far.</a:t>
            </a:r>
            <a:endParaRPr lang="en-US" sz="2200" dirty="0"/>
          </a:p>
        </p:txBody>
      </p:sp>
      <p:sp>
        <p:nvSpPr>
          <p:cNvPr id="7" name="Text 4"/>
          <p:cNvSpPr/>
          <p:nvPr/>
        </p:nvSpPr>
        <p:spPr>
          <a:xfrm>
            <a:off x="731520" y="4160520"/>
            <a:ext cx="7662672" cy="1097280"/>
          </a:xfrm>
          <a:prstGeom prst="rect">
            <a:avLst/>
          </a:prstGeom>
          <a:noFill/>
          <a:ln/>
        </p:spPr>
        <p:txBody>
          <a:bodyPr wrap="square" lIns="0" tIns="0" rIns="0" bIns="0" rtlCol="0" anchor="t"/>
          <a:lstStyle/>
          <a:p>
            <a:pPr indent="0" marL="0">
              <a:lnSpc>
                <a:spcPct val="125000"/>
              </a:lnSpc>
              <a:buNone/>
            </a:pPr>
            <a:r>
              <a:rPr lang="en-US" sz="1800" i="1" dirty="0">
                <a:solidFill>
                  <a:srgbClr val="3F6656"/>
                </a:solidFill>
                <a:latin typeface="Calibri" pitchFamily="34" charset="0"/>
                <a:ea typeface="Calibri" pitchFamily="34" charset="-122"/>
                <a:cs typeface="Calibri" pitchFamily="34" charset="-120"/>
              </a:rPr>
              <a:t>A quiet moment to reflect — no need to demonstrate anything new here.</a:t>
            </a:r>
            <a:endParaRPr lang="en-US" sz="1800" dirty="0"/>
          </a:p>
        </p:txBody>
      </p:sp>
      <p:sp>
        <p:nvSpPr>
          <p:cNvPr id="8" name="Text 5"/>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9 / 20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video.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STAYING IN TOUCH</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Video Call</a:t>
            </a:r>
            <a:endParaRPr lang="en-US" sz="3200" dirty="0"/>
          </a:p>
        </p:txBody>
      </p:sp>
      <p:sp>
        <p:nvSpPr>
          <p:cNvPr id="6" name="Text 3"/>
          <p:cNvSpPr/>
          <p:nvPr/>
        </p:nvSpPr>
        <p:spPr>
          <a:xfrm>
            <a:off x="379476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Seeing a familiar face on the screen, even from far away, is a lovely feeling.</a:t>
            </a:r>
            <a:endParaRPr lang="en-US" sz="2200" dirty="0"/>
          </a:p>
        </p:txBody>
      </p:sp>
      <p:sp>
        <p:nvSpPr>
          <p:cNvPr id="7" name="Shape 4"/>
          <p:cNvSpPr/>
          <p:nvPr/>
        </p:nvSpPr>
        <p:spPr>
          <a:xfrm>
            <a:off x="3794760" y="3977640"/>
            <a:ext cx="7662672" cy="1417320"/>
          </a:xfrm>
          <a:prstGeom prst="roundRect">
            <a:avLst>
              <a:gd name="adj" fmla="val 9032"/>
            </a:avLst>
          </a:prstGeom>
          <a:solidFill>
            <a:srgbClr val="EFE7DA"/>
          </a:solidFill>
          <a:ln/>
        </p:spPr>
      </p:sp>
      <p:sp>
        <p:nvSpPr>
          <p:cNvPr id="8" name="Text 5"/>
          <p:cNvSpPr/>
          <p:nvPr/>
        </p:nvSpPr>
        <p:spPr>
          <a:xfrm>
            <a:off x="411480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411480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Who would you love to see on a video call?</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10 / 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search.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CURIOSITY</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Find Something You Like</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The internet holds endless things to discover — recipes, news, hobbies, and more.</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What is something you are curious about?</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11 / 20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mapPin.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CURIOSITY</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Explore the Map</a:t>
            </a:r>
            <a:endParaRPr lang="en-US" sz="3200" dirty="0"/>
          </a:p>
        </p:txBody>
      </p:sp>
      <p:sp>
        <p:nvSpPr>
          <p:cNvPr id="6" name="Text 3"/>
          <p:cNvSpPr/>
          <p:nvPr/>
        </p:nvSpPr>
        <p:spPr>
          <a:xfrm>
            <a:off x="379476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Find a familiar street, town, or place — right on the screen.</a:t>
            </a:r>
            <a:endParaRPr lang="en-US" sz="2200" dirty="0"/>
          </a:p>
        </p:txBody>
      </p:sp>
      <p:sp>
        <p:nvSpPr>
          <p:cNvPr id="7" name="Shape 4"/>
          <p:cNvSpPr/>
          <p:nvPr/>
        </p:nvSpPr>
        <p:spPr>
          <a:xfrm>
            <a:off x="3794760" y="3977640"/>
            <a:ext cx="7662672" cy="1417320"/>
          </a:xfrm>
          <a:prstGeom prst="roundRect">
            <a:avLst>
              <a:gd name="adj" fmla="val 9032"/>
            </a:avLst>
          </a:prstGeom>
          <a:solidFill>
            <a:srgbClr val="EFE7DA"/>
          </a:solidFill>
          <a:ln/>
        </p:spPr>
      </p:sp>
      <p:sp>
        <p:nvSpPr>
          <p:cNvPr id="8" name="Text 5"/>
          <p:cNvSpPr/>
          <p:nvPr/>
        </p:nvSpPr>
        <p:spPr>
          <a:xfrm>
            <a:off x="411480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411480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Is there a place you’d like to find on the map?</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12 / 20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music.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CURIOSITY</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Music &amp; Entertainment</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Rediscover an old favourite song, or find something new to enjoy.</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What song brings back a good memory for you?</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13 / 20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bookOpen.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REFLECTION</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Technology &amp; Memories</a:t>
            </a:r>
            <a:endParaRPr lang="en-US" sz="3200" dirty="0"/>
          </a:p>
        </p:txBody>
      </p:sp>
      <p:sp>
        <p:nvSpPr>
          <p:cNvPr id="6" name="Text 3"/>
          <p:cNvSpPr/>
          <p:nvPr/>
        </p:nvSpPr>
        <p:spPr>
          <a:xfrm>
            <a:off x="3794760" y="2057400"/>
            <a:ext cx="7662672" cy="237744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Photos, videos, and messages all help us hold on to the people and moments we cherish.</a:t>
            </a:r>
            <a:endParaRPr lang="en-US" sz="2200" dirty="0"/>
          </a:p>
        </p:txBody>
      </p:sp>
      <p:sp>
        <p:nvSpPr>
          <p:cNvPr id="7" name="Text 4"/>
          <p:cNvSpPr/>
          <p:nvPr/>
        </p:nvSpPr>
        <p:spPr>
          <a:xfrm>
            <a:off x="3794760" y="4160520"/>
            <a:ext cx="7662672" cy="1097280"/>
          </a:xfrm>
          <a:prstGeom prst="rect">
            <a:avLst/>
          </a:prstGeom>
          <a:noFill/>
          <a:ln/>
        </p:spPr>
        <p:txBody>
          <a:bodyPr wrap="square" lIns="0" tIns="0" rIns="0" bIns="0" rtlCol="0" anchor="t"/>
          <a:lstStyle/>
          <a:p>
            <a:pPr indent="0" marL="0">
              <a:lnSpc>
                <a:spcPct val="125000"/>
              </a:lnSpc>
              <a:buNone/>
            </a:pPr>
            <a:r>
              <a:rPr lang="en-US" sz="1800" i="1" dirty="0">
                <a:solidFill>
                  <a:srgbClr val="3F6656"/>
                </a:solidFill>
                <a:latin typeface="Calibri" pitchFamily="34" charset="0"/>
                <a:ea typeface="Calibri" pitchFamily="34" charset="-122"/>
                <a:cs typeface="Calibri" pitchFamily="34" charset="-120"/>
              </a:rPr>
              <a:t>A moment to pause and connect what we’ve tried so far to real memories.</a:t>
            </a:r>
            <a:endParaRPr lang="en-US" sz="1800" dirty="0"/>
          </a:p>
        </p:txBody>
      </p:sp>
      <p:sp>
        <p:nvSpPr>
          <p:cNvPr id="8" name="Text 5"/>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14 / 20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target.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CONFIDENCE</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You Can Try It Yourself</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You already know more than you think. One small step is all it takes.</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Choose one small thing to try on your own.</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15 / 20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refresh.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A GENTLE REMINDER</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It Is Okay to Make Mistakes</a:t>
            </a:r>
            <a:endParaRPr lang="en-US" sz="3200" dirty="0"/>
          </a:p>
        </p:txBody>
      </p:sp>
      <p:sp>
        <p:nvSpPr>
          <p:cNvPr id="6" name="Text 3"/>
          <p:cNvSpPr/>
          <p:nvPr/>
        </p:nvSpPr>
        <p:spPr>
          <a:xfrm>
            <a:off x="3794760" y="2057400"/>
            <a:ext cx="7662672" cy="237744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A wrong tap is never a problem. Mistakes are simply part of learning.</a:t>
            </a:r>
            <a:endParaRPr lang="en-US" sz="2200" dirty="0"/>
          </a:p>
        </p:txBody>
      </p:sp>
      <p:sp>
        <p:nvSpPr>
          <p:cNvPr id="7" name="Text 4"/>
          <p:cNvSpPr/>
          <p:nvPr/>
        </p:nvSpPr>
        <p:spPr>
          <a:xfrm>
            <a:off x="3794760" y="4160520"/>
            <a:ext cx="7662672" cy="1097280"/>
          </a:xfrm>
          <a:prstGeom prst="rect">
            <a:avLst/>
          </a:prstGeom>
          <a:noFill/>
          <a:ln/>
        </p:spPr>
        <p:txBody>
          <a:bodyPr wrap="square" lIns="0" tIns="0" rIns="0" bIns="0" rtlCol="0" anchor="t"/>
          <a:lstStyle/>
          <a:p>
            <a:pPr indent="0" marL="0">
              <a:lnSpc>
                <a:spcPct val="125000"/>
              </a:lnSpc>
              <a:buNone/>
            </a:pPr>
            <a:r>
              <a:rPr lang="en-US" sz="1800" i="1" dirty="0">
                <a:solidFill>
                  <a:srgbClr val="3F6656"/>
                </a:solidFill>
                <a:latin typeface="Calibri" pitchFamily="34" charset="0"/>
                <a:ea typeface="Calibri" pitchFamily="34" charset="-122"/>
                <a:cs typeface="Calibri" pitchFamily="34" charset="-120"/>
              </a:rPr>
              <a:t>Smile, laugh it off together, and simply try again — that is the whole lesson.</a:t>
            </a:r>
            <a:endParaRPr lang="en-US" sz="1800" dirty="0"/>
          </a:p>
        </p:txBody>
      </p:sp>
      <p:sp>
        <p:nvSpPr>
          <p:cNvPr id="8" name="Text 5"/>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16 / 20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coffee.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TOGETHER</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Let's Talk &amp; Share</a:t>
            </a:r>
            <a:endParaRPr lang="en-US" sz="3200" dirty="0"/>
          </a:p>
        </p:txBody>
      </p:sp>
      <p:sp>
        <p:nvSpPr>
          <p:cNvPr id="6" name="Text 3"/>
          <p:cNvSpPr/>
          <p:nvPr/>
        </p:nvSpPr>
        <p:spPr>
          <a:xfrm>
            <a:off x="731520" y="2057400"/>
            <a:ext cx="7662672" cy="155448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Let’s sit together for a moment and talk about what we discovered today.</a:t>
            </a:r>
            <a:endParaRPr lang="en-US" sz="2200" dirty="0"/>
          </a:p>
        </p:txBody>
      </p:sp>
      <p:sp>
        <p:nvSpPr>
          <p:cNvPr id="7" name="Shape 4"/>
          <p:cNvSpPr/>
          <p:nvPr/>
        </p:nvSpPr>
        <p:spPr>
          <a:xfrm>
            <a:off x="731520" y="3977640"/>
            <a:ext cx="7662672" cy="1417320"/>
          </a:xfrm>
          <a:prstGeom prst="roundRect">
            <a:avLst>
              <a:gd name="adj" fmla="val 9032"/>
            </a:avLst>
          </a:prstGeom>
          <a:solidFill>
            <a:srgbClr val="EFE7DA"/>
          </a:solidFill>
          <a:ln/>
        </p:spPr>
      </p:sp>
      <p:sp>
        <p:nvSpPr>
          <p:cNvPr id="8" name="Text 5"/>
          <p:cNvSpPr/>
          <p:nvPr/>
        </p:nvSpPr>
        <p:spPr>
          <a:xfrm>
            <a:off x="1051560" y="4160520"/>
            <a:ext cx="7022592" cy="320040"/>
          </a:xfrm>
          <a:prstGeom prst="rect">
            <a:avLst/>
          </a:prstGeom>
          <a:noFill/>
          <a:ln/>
        </p:spPr>
        <p:txBody>
          <a:bodyPr wrap="square" lIns="0" tIns="0" rIns="0" bIns="0" rtlCol="0" anchor="ctr"/>
          <a:lstStyle/>
          <a:p>
            <a:pPr indent="0" marL="0">
              <a:buNone/>
            </a:pPr>
            <a:r>
              <a:rPr lang="en-US" sz="1300" b="1" spc="150" kern="0" dirty="0">
                <a:solidFill>
                  <a:srgbClr val="B85042"/>
                </a:solidFill>
                <a:latin typeface="Calibri" pitchFamily="34" charset="0"/>
                <a:ea typeface="Calibri" pitchFamily="34" charset="-122"/>
                <a:cs typeface="Calibri" pitchFamily="34" charset="-120"/>
              </a:rPr>
              <a:t>YOUR TURN</a:t>
            </a:r>
            <a:endParaRPr lang="en-US" sz="1300" dirty="0"/>
          </a:p>
        </p:txBody>
      </p:sp>
      <p:sp>
        <p:nvSpPr>
          <p:cNvPr id="9" name="Text 6"/>
          <p:cNvSpPr/>
          <p:nvPr/>
        </p:nvSpPr>
        <p:spPr>
          <a:xfrm>
            <a:off x="1051560" y="4507992"/>
            <a:ext cx="7022592" cy="731520"/>
          </a:xfrm>
          <a:prstGeom prst="rect">
            <a:avLst/>
          </a:prstGeom>
          <a:noFill/>
          <a:ln/>
        </p:spPr>
        <p:txBody>
          <a:bodyPr wrap="square" lIns="0" tIns="0" rIns="0" bIns="0" rtlCol="0" anchor="t"/>
          <a:lstStyle/>
          <a:p>
            <a:pPr indent="0" marL="0">
              <a:lnSpc>
                <a:spcPct val="120000"/>
              </a:lnSpc>
              <a:buNone/>
            </a:pPr>
            <a:r>
              <a:rPr lang="en-US" sz="1900" i="1" dirty="0">
                <a:solidFill>
                  <a:srgbClr val="3A3A3A"/>
                </a:solidFill>
                <a:latin typeface="Calibri" pitchFamily="34" charset="0"/>
                <a:ea typeface="Calibri" pitchFamily="34" charset="-122"/>
                <a:cs typeface="Calibri" pitchFamily="34" charset="-120"/>
              </a:rPr>
              <a:t>What was your favourite part of today?</a:t>
            </a:r>
            <a:endParaRPr lang="en-US" sz="1900" dirty="0"/>
          </a:p>
        </p:txBody>
      </p:sp>
      <p:sp>
        <p:nvSpPr>
          <p:cNvPr id="10" name="Text 7"/>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17 / 20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1417320"/>
            <a:ext cx="2468880" cy="2468880"/>
          </a:xfrm>
          <a:prstGeom prst="ellipse">
            <a:avLst/>
          </a:prstGeom>
          <a:solidFill>
            <a:srgbClr val="B85042"/>
          </a:solidFill>
          <a:ln/>
          <a:effectLst>
            <a:outerShdw sx="100000" sy="100000" kx="0" ky="0" algn="bl" rotWithShape="0" blurRad="101600" dist="38100" dir="5400000">
              <a:srgbClr val="888888">
                <a:alpha val="25000"/>
              </a:srgbClr>
            </a:outerShdw>
          </a:effectLst>
        </p:spPr>
      </p:sp>
      <p:pic>
        <p:nvPicPr>
          <p:cNvPr id="3" name="Image 0" descr="/home/claude/workshop/icons/heart.png">    </p:cNvPr>
          <p:cNvPicPr>
            <a:picLocks noChangeAspect="1"/>
          </p:cNvPicPr>
          <p:nvPr/>
        </p:nvPicPr>
        <p:blipFill>
          <a:blip r:embed="rId1"/>
          <a:stretch>
            <a:fillRect/>
          </a:stretch>
        </p:blipFill>
        <p:spPr>
          <a:xfrm>
            <a:off x="1348740" y="2034540"/>
            <a:ext cx="1234440" cy="1234440"/>
          </a:xfrm>
          <a:prstGeom prst="rect">
            <a:avLst/>
          </a:prstGeom>
        </p:spPr>
      </p:pic>
      <p:sp>
        <p:nvSpPr>
          <p:cNvPr id="4" name="Text 1"/>
          <p:cNvSpPr/>
          <p:nvPr/>
        </p:nvSpPr>
        <p:spPr>
          <a:xfrm>
            <a:off x="379476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THE HEART OF IT</a:t>
            </a:r>
            <a:endParaRPr lang="en-US" sz="1300" dirty="0"/>
          </a:p>
        </p:txBody>
      </p:sp>
      <p:sp>
        <p:nvSpPr>
          <p:cNvPr id="5" name="Text 2"/>
          <p:cNvSpPr/>
          <p:nvPr/>
        </p:nvSpPr>
        <p:spPr>
          <a:xfrm>
            <a:off x="379476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From Technology to Connection</a:t>
            </a:r>
            <a:endParaRPr lang="en-US" sz="3200" dirty="0"/>
          </a:p>
        </p:txBody>
      </p:sp>
      <p:sp>
        <p:nvSpPr>
          <p:cNvPr id="6" name="Text 3"/>
          <p:cNvSpPr/>
          <p:nvPr/>
        </p:nvSpPr>
        <p:spPr>
          <a:xfrm>
            <a:off x="3794760" y="2057400"/>
            <a:ext cx="7662672" cy="237744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Technology matters because of the people and relationships it helps us reach.</a:t>
            </a:r>
            <a:endParaRPr lang="en-US" sz="2200" dirty="0"/>
          </a:p>
        </p:txBody>
      </p:sp>
      <p:sp>
        <p:nvSpPr>
          <p:cNvPr id="7" name="Text 4"/>
          <p:cNvSpPr/>
          <p:nvPr/>
        </p:nvSpPr>
        <p:spPr>
          <a:xfrm>
            <a:off x="3794760" y="4160520"/>
            <a:ext cx="7662672" cy="1097280"/>
          </a:xfrm>
          <a:prstGeom prst="rect">
            <a:avLst/>
          </a:prstGeom>
          <a:noFill/>
          <a:ln/>
        </p:spPr>
        <p:txBody>
          <a:bodyPr wrap="square" lIns="0" tIns="0" rIns="0" bIns="0" rtlCol="0" anchor="t"/>
          <a:lstStyle/>
          <a:p>
            <a:pPr indent="0" marL="0">
              <a:lnSpc>
                <a:spcPct val="125000"/>
              </a:lnSpc>
              <a:buNone/>
            </a:pPr>
            <a:r>
              <a:rPr lang="en-US" sz="1800" i="1" dirty="0">
                <a:solidFill>
                  <a:srgbClr val="3F6656"/>
                </a:solidFill>
                <a:latin typeface="Calibri" pitchFamily="34" charset="0"/>
                <a:ea typeface="Calibri" pitchFamily="34" charset="-122"/>
                <a:cs typeface="Calibri" pitchFamily="34" charset="-120"/>
              </a:rPr>
              <a:t>This is the idea behind everything we’ve tried today.</a:t>
            </a:r>
            <a:endParaRPr lang="en-US" sz="1800" dirty="0"/>
          </a:p>
        </p:txBody>
      </p:sp>
      <p:sp>
        <p:nvSpPr>
          <p:cNvPr id="8" name="Text 5"/>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18 / 20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88552" y="1417320"/>
            <a:ext cx="2468880" cy="2468880"/>
          </a:xfrm>
          <a:prstGeom prst="ellipse">
            <a:avLst/>
          </a:prstGeom>
          <a:solidFill>
            <a:srgbClr val="7FA98F"/>
          </a:solidFill>
          <a:ln/>
          <a:effectLst>
            <a:outerShdw sx="100000" sy="100000" kx="0" ky="0" algn="bl" rotWithShape="0" blurRad="101600" dist="38100" dir="5400000">
              <a:srgbClr val="888888">
                <a:alpha val="25000"/>
              </a:srgbClr>
            </a:outerShdw>
          </a:effectLst>
        </p:spPr>
      </p:sp>
      <p:pic>
        <p:nvPicPr>
          <p:cNvPr id="3" name="Image 0" descr="/home/claude/workshop/icons/globe.png">    </p:cNvPr>
          <p:cNvPicPr>
            <a:picLocks noChangeAspect="1"/>
          </p:cNvPicPr>
          <p:nvPr/>
        </p:nvPicPr>
        <p:blipFill>
          <a:blip r:embed="rId1"/>
          <a:stretch>
            <a:fillRect/>
          </a:stretch>
        </p:blipFill>
        <p:spPr>
          <a:xfrm>
            <a:off x="9605772" y="2034540"/>
            <a:ext cx="1234440" cy="1234440"/>
          </a:xfrm>
          <a:prstGeom prst="rect">
            <a:avLst/>
          </a:prstGeom>
        </p:spPr>
      </p:pic>
      <p:sp>
        <p:nvSpPr>
          <p:cNvPr id="4" name="Text 1"/>
          <p:cNvSpPr/>
          <p:nvPr/>
        </p:nvSpPr>
        <p:spPr>
          <a:xfrm>
            <a:off x="731520" y="594360"/>
            <a:ext cx="7662672" cy="365760"/>
          </a:xfrm>
          <a:prstGeom prst="rect">
            <a:avLst/>
          </a:prstGeom>
          <a:noFill/>
          <a:ln/>
        </p:spPr>
        <p:txBody>
          <a:bodyPr wrap="square" lIns="0" tIns="0" rIns="0" bIns="0" rtlCol="0" anchor="ctr"/>
          <a:lstStyle/>
          <a:p>
            <a:pPr indent="0" marL="0">
              <a:buNone/>
            </a:pPr>
            <a:r>
              <a:rPr lang="en-US" sz="1300" b="1" spc="200" kern="0" dirty="0">
                <a:solidFill>
                  <a:srgbClr val="3F6656"/>
                </a:solidFill>
                <a:latin typeface="Calibri" pitchFamily="34" charset="0"/>
                <a:ea typeface="Calibri" pitchFamily="34" charset="-122"/>
                <a:cs typeface="Calibri" pitchFamily="34" charset="-120"/>
              </a:rPr>
              <a:t>LOOKING AHEAD · POSSIBLE FUTURE IDEA</a:t>
            </a:r>
            <a:endParaRPr lang="en-US" sz="1300" dirty="0"/>
          </a:p>
        </p:txBody>
      </p:sp>
      <p:sp>
        <p:nvSpPr>
          <p:cNvPr id="5" name="Text 2"/>
          <p:cNvSpPr/>
          <p:nvPr/>
        </p:nvSpPr>
        <p:spPr>
          <a:xfrm>
            <a:off x="731520" y="960120"/>
            <a:ext cx="7662672" cy="96012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Our Stories, Our Cultures</a:t>
            </a:r>
            <a:endParaRPr lang="en-US" sz="3200" dirty="0"/>
          </a:p>
        </p:txBody>
      </p:sp>
      <p:sp>
        <p:nvSpPr>
          <p:cNvPr id="6" name="Text 3"/>
          <p:cNvSpPr/>
          <p:nvPr/>
        </p:nvSpPr>
        <p:spPr>
          <a:xfrm>
            <a:off x="731520" y="2057400"/>
            <a:ext cx="7662672" cy="2377440"/>
          </a:xfrm>
          <a:prstGeom prst="rect">
            <a:avLst/>
          </a:prstGeom>
          <a:noFill/>
          <a:ln/>
        </p:spPr>
        <p:txBody>
          <a:bodyPr wrap="square" lIns="0" tIns="0" rIns="0" bIns="0" rtlCol="0" anchor="t"/>
          <a:lstStyle/>
          <a:p>
            <a:pPr indent="0" marL="0">
              <a:lnSpc>
                <a:spcPct val="130000"/>
              </a:lnSpc>
              <a:buNone/>
            </a:pPr>
            <a:r>
              <a:rPr lang="en-US" sz="2200" dirty="0">
                <a:solidFill>
                  <a:srgbClr val="3A3A3A"/>
                </a:solidFill>
                <a:latin typeface="Calibri" pitchFamily="34" charset="0"/>
                <a:ea typeface="Calibri" pitchFamily="34" charset="-122"/>
                <a:cs typeface="Calibri" pitchFamily="34" charset="-120"/>
              </a:rPr>
              <a:t>One day, we might share tea, food, and family stories from Syria and Poland together.</a:t>
            </a:r>
            <a:endParaRPr lang="en-US" sz="2200" dirty="0"/>
          </a:p>
        </p:txBody>
      </p:sp>
      <p:sp>
        <p:nvSpPr>
          <p:cNvPr id="7" name="Text 4"/>
          <p:cNvSpPr/>
          <p:nvPr/>
        </p:nvSpPr>
        <p:spPr>
          <a:xfrm>
            <a:off x="731520" y="4160520"/>
            <a:ext cx="7662672" cy="1097280"/>
          </a:xfrm>
          <a:prstGeom prst="rect">
            <a:avLst/>
          </a:prstGeom>
          <a:noFill/>
          <a:ln/>
        </p:spPr>
        <p:txBody>
          <a:bodyPr wrap="square" lIns="0" tIns="0" rIns="0" bIns="0" rtlCol="0" anchor="t"/>
          <a:lstStyle/>
          <a:p>
            <a:pPr indent="0" marL="0">
              <a:lnSpc>
                <a:spcPct val="125000"/>
              </a:lnSpc>
              <a:buNone/>
            </a:pPr>
            <a:r>
              <a:rPr lang="en-US" sz="1800" i="1" dirty="0">
                <a:solidFill>
                  <a:srgbClr val="3F6656"/>
                </a:solidFill>
                <a:latin typeface="Calibri" pitchFamily="34" charset="0"/>
                <a:ea typeface="Calibri" pitchFamily="34" charset="-122"/>
                <a:cs typeface="Calibri" pitchFamily="34" charset="-120"/>
              </a:rPr>
              <a:t>A possible future idea only — to be decided together with the supervisors.</a:t>
            </a:r>
            <a:endParaRPr lang="en-US" sz="1800" dirty="0"/>
          </a:p>
        </p:txBody>
      </p:sp>
      <p:sp>
        <p:nvSpPr>
          <p:cNvPr id="8" name="Text 5"/>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19 / 20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6B2E22"/>
        </a:solidFill>
      </p:bgPr>
    </p:bg>
    <p:spTree>
      <p:nvGrpSpPr>
        <p:cNvPr id="1" name=""/>
        <p:cNvGrpSpPr/>
        <p:nvPr/>
      </p:nvGrpSpPr>
      <p:grpSpPr>
        <a:xfrm>
          <a:off x="0" y="0"/>
          <a:ext cx="0" cy="0"/>
          <a:chOff x="0" y="0"/>
          <a:chExt cx="0" cy="0"/>
        </a:xfrm>
      </p:grpSpPr>
      <p:sp>
        <p:nvSpPr>
          <p:cNvPr id="2" name="Shape 0"/>
          <p:cNvSpPr/>
          <p:nvPr/>
        </p:nvSpPr>
        <p:spPr>
          <a:xfrm>
            <a:off x="5042916" y="777240"/>
            <a:ext cx="2103120" cy="2103120"/>
          </a:xfrm>
          <a:prstGeom prst="ellipse">
            <a:avLst/>
          </a:prstGeom>
          <a:solidFill>
            <a:srgbClr val="FFFFFF">
              <a:alpha val="88000"/>
            </a:srgbClr>
          </a:solidFill>
          <a:ln/>
        </p:spPr>
      </p:sp>
      <p:pic>
        <p:nvPicPr>
          <p:cNvPr id="3" name="Image 0" descr="/home/claude/workshop/icons/sun.png">    </p:cNvPr>
          <p:cNvPicPr>
            <a:picLocks noChangeAspect="1"/>
          </p:cNvPicPr>
          <p:nvPr/>
        </p:nvPicPr>
        <p:blipFill>
          <a:blip r:embed="rId1"/>
          <a:stretch>
            <a:fillRect/>
          </a:stretch>
        </p:blipFill>
        <p:spPr>
          <a:xfrm>
            <a:off x="5545836" y="1280160"/>
            <a:ext cx="1097280" cy="1097280"/>
          </a:xfrm>
          <a:prstGeom prst="rect">
            <a:avLst/>
          </a:prstGeom>
        </p:spPr>
      </p:pic>
      <p:sp>
        <p:nvSpPr>
          <p:cNvPr id="4" name="Text 1"/>
          <p:cNvSpPr/>
          <p:nvPr/>
        </p:nvSpPr>
        <p:spPr>
          <a:xfrm>
            <a:off x="914400" y="3063240"/>
            <a:ext cx="10360152"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p:nvPr/>
        </p:nvSpPr>
        <p:spPr>
          <a:xfrm>
            <a:off x="1463040" y="4114800"/>
            <a:ext cx="9262872" cy="1188720"/>
          </a:xfrm>
          <a:prstGeom prst="rect">
            <a:avLst/>
          </a:prstGeom>
          <a:noFill/>
          <a:ln/>
        </p:spPr>
        <p:txBody>
          <a:bodyPr wrap="square" lIns="0" tIns="0" rIns="0" bIns="0" rtlCol="0" anchor="ctr"/>
          <a:lstStyle/>
          <a:p>
            <a:pPr algn="ctr" indent="0" marL="0">
              <a:lnSpc>
                <a:spcPct val="125000"/>
              </a:lnSpc>
              <a:buNone/>
            </a:pPr>
            <a:r>
              <a:rPr lang="en-US" sz="2300" dirty="0">
                <a:solidFill>
                  <a:srgbClr val="EFE7DA"/>
                </a:solidFill>
                <a:latin typeface="Calibri" pitchFamily="34" charset="0"/>
                <a:ea typeface="Calibri" pitchFamily="34" charset="-122"/>
                <a:cs typeface="Calibri" pitchFamily="34" charset="-120"/>
              </a:rPr>
              <a:t>Thank you for exploring with us today — whatever you tried, and however far you got.</a:t>
            </a:r>
            <a:endParaRPr lang="en-US" sz="2300" dirty="0"/>
          </a:p>
        </p:txBody>
      </p:sp>
      <p:sp>
        <p:nvSpPr>
          <p:cNvPr id="6" name="Text 3"/>
          <p:cNvSpPr/>
          <p:nvPr/>
        </p:nvSpPr>
        <p:spPr>
          <a:xfrm>
            <a:off x="1463040" y="5349240"/>
            <a:ext cx="9262872" cy="548640"/>
          </a:xfrm>
          <a:prstGeom prst="rect">
            <a:avLst/>
          </a:prstGeom>
          <a:noFill/>
          <a:ln/>
        </p:spPr>
        <p:txBody>
          <a:bodyPr wrap="square" lIns="0" tIns="0" rIns="0" bIns="0" rtlCol="0" anchor="ctr"/>
          <a:lstStyle/>
          <a:p>
            <a:pPr algn="ctr" indent="0" marL="0">
              <a:buNone/>
            </a:pPr>
            <a:r>
              <a:rPr lang="en-US" sz="1700" i="1" dirty="0">
                <a:solidFill>
                  <a:srgbClr val="FFFFFF"/>
                </a:solidFill>
                <a:latin typeface="Calibri" pitchFamily="34" charset="0"/>
                <a:ea typeface="Calibri" pitchFamily="34" charset="-122"/>
                <a:cs typeface="Calibri" pitchFamily="34" charset="-120"/>
              </a:rPr>
              <a:t>No pressure, no exam. Let’s keep exploring together, whenever you’d like.</a:t>
            </a:r>
            <a:endParaRPr lang="en-US" sz="1700" dirty="0"/>
          </a:p>
        </p:txBody>
      </p:sp>
      <p:sp>
        <p:nvSpPr>
          <p:cNvPr id="7" name="Text 4"/>
          <p:cNvSpPr/>
          <p:nvPr/>
        </p:nvSpPr>
        <p:spPr>
          <a:xfrm>
            <a:off x="10725912" y="6355080"/>
            <a:ext cx="1005840" cy="320040"/>
          </a:xfrm>
          <a:prstGeom prst="rect">
            <a:avLst/>
          </a:prstGeom>
          <a:noFill/>
          <a:ln/>
        </p:spPr>
        <p:txBody>
          <a:bodyPr wrap="square" lIns="0" tIns="0" rIns="0" bIns="0" rtlCol="0" anchor="ctr"/>
          <a:lstStyle/>
          <a:p>
            <a:pPr algn="r" indent="0" marL="0">
              <a:buNone/>
            </a:pPr>
            <a:r>
              <a:rPr lang="en-US" sz="1100" dirty="0">
                <a:solidFill>
                  <a:srgbClr val="8A8A8A"/>
                </a:solidFill>
                <a:latin typeface="Calibri" pitchFamily="34" charset="0"/>
                <a:ea typeface="Calibri" pitchFamily="34" charset="-122"/>
                <a:cs typeface="Calibri" pitchFamily="34" charset="-120"/>
              </a:rPr>
              <a:t>20 / 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2026-08-13T17:43:21Z</dcterms:created>
  <dcterms:modified xsi:type="dcterms:W3CDTF">2026-08-13T17:43:21Z</dcterms:modified>
</cp:coreProperties>
</file>